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7" r:id="rId2"/>
    <p:sldId id="257" r:id="rId3"/>
    <p:sldId id="258" r:id="rId4"/>
    <p:sldId id="259" r:id="rId5"/>
    <p:sldId id="260" r:id="rId6"/>
    <p:sldId id="275" r:id="rId7"/>
    <p:sldId id="262" r:id="rId8"/>
    <p:sldId id="278" r:id="rId9"/>
    <p:sldId id="280" r:id="rId10"/>
    <p:sldId id="273" r:id="rId11"/>
    <p:sldId id="276" r:id="rId12"/>
    <p:sldId id="274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55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10F86-4C58-4DE6-BF00-E4B47EDE91BE}" type="datetimeFigureOut">
              <a:rPr lang="en-IN" smtClean="0"/>
              <a:pPr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EF065-E24A-40FD-921F-E2D8C86FAB5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3354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394" y="2325877"/>
            <a:ext cx="1080884" cy="10808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917946"/>
            <a:ext cx="12192000" cy="194005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05484" y="2433954"/>
            <a:ext cx="864869" cy="864869"/>
          </a:xfrm>
          <a:custGeom>
            <a:avLst/>
            <a:gdLst/>
            <a:ahLst/>
            <a:cxnLst/>
            <a:rect l="l" t="t" r="r" b="b"/>
            <a:pathLst>
              <a:path w="864869" h="864870">
                <a:moveTo>
                  <a:pt x="0" y="432308"/>
                </a:moveTo>
                <a:lnTo>
                  <a:pt x="2537" y="385202"/>
                </a:lnTo>
                <a:lnTo>
                  <a:pt x="9972" y="339566"/>
                </a:lnTo>
                <a:lnTo>
                  <a:pt x="22043" y="295664"/>
                </a:lnTo>
                <a:lnTo>
                  <a:pt x="38485" y="253758"/>
                </a:lnTo>
                <a:lnTo>
                  <a:pt x="59034" y="214112"/>
                </a:lnTo>
                <a:lnTo>
                  <a:pt x="83427" y="176991"/>
                </a:lnTo>
                <a:lnTo>
                  <a:pt x="111399" y="142657"/>
                </a:lnTo>
                <a:lnTo>
                  <a:pt x="142688" y="111376"/>
                </a:lnTo>
                <a:lnTo>
                  <a:pt x="177029" y="83409"/>
                </a:lnTo>
                <a:lnTo>
                  <a:pt x="214159" y="59022"/>
                </a:lnTo>
                <a:lnTo>
                  <a:pt x="253814" y="38477"/>
                </a:lnTo>
                <a:lnTo>
                  <a:pt x="295730" y="22039"/>
                </a:lnTo>
                <a:lnTo>
                  <a:pt x="339644" y="9970"/>
                </a:lnTo>
                <a:lnTo>
                  <a:pt x="385292" y="2536"/>
                </a:lnTo>
                <a:lnTo>
                  <a:pt x="432409" y="0"/>
                </a:lnTo>
                <a:lnTo>
                  <a:pt x="479514" y="2536"/>
                </a:lnTo>
                <a:lnTo>
                  <a:pt x="525150" y="9970"/>
                </a:lnTo>
                <a:lnTo>
                  <a:pt x="569053" y="22039"/>
                </a:lnTo>
                <a:lnTo>
                  <a:pt x="610959" y="38477"/>
                </a:lnTo>
                <a:lnTo>
                  <a:pt x="650605" y="59022"/>
                </a:lnTo>
                <a:lnTo>
                  <a:pt x="687726" y="83409"/>
                </a:lnTo>
                <a:lnTo>
                  <a:pt x="722059" y="111376"/>
                </a:lnTo>
                <a:lnTo>
                  <a:pt x="753341" y="142657"/>
                </a:lnTo>
                <a:lnTo>
                  <a:pt x="781308" y="176991"/>
                </a:lnTo>
                <a:lnTo>
                  <a:pt x="805695" y="214112"/>
                </a:lnTo>
                <a:lnTo>
                  <a:pt x="826240" y="253758"/>
                </a:lnTo>
                <a:lnTo>
                  <a:pt x="842678" y="295664"/>
                </a:lnTo>
                <a:lnTo>
                  <a:pt x="854746" y="339566"/>
                </a:lnTo>
                <a:lnTo>
                  <a:pt x="862180" y="385202"/>
                </a:lnTo>
                <a:lnTo>
                  <a:pt x="864717" y="432308"/>
                </a:lnTo>
                <a:lnTo>
                  <a:pt x="862180" y="479414"/>
                </a:lnTo>
                <a:lnTo>
                  <a:pt x="854746" y="525055"/>
                </a:lnTo>
                <a:lnTo>
                  <a:pt x="842678" y="568965"/>
                </a:lnTo>
                <a:lnTo>
                  <a:pt x="826240" y="610880"/>
                </a:lnTo>
                <a:lnTo>
                  <a:pt x="805695" y="650536"/>
                </a:lnTo>
                <a:lnTo>
                  <a:pt x="781308" y="687669"/>
                </a:lnTo>
                <a:lnTo>
                  <a:pt x="753341" y="722015"/>
                </a:lnTo>
                <a:lnTo>
                  <a:pt x="722059" y="753309"/>
                </a:lnTo>
                <a:lnTo>
                  <a:pt x="687726" y="781288"/>
                </a:lnTo>
                <a:lnTo>
                  <a:pt x="650605" y="805688"/>
                </a:lnTo>
                <a:lnTo>
                  <a:pt x="610959" y="826243"/>
                </a:lnTo>
                <a:lnTo>
                  <a:pt x="569053" y="842690"/>
                </a:lnTo>
                <a:lnTo>
                  <a:pt x="525150" y="854765"/>
                </a:lnTo>
                <a:lnTo>
                  <a:pt x="479514" y="862204"/>
                </a:lnTo>
                <a:lnTo>
                  <a:pt x="432409" y="864743"/>
                </a:lnTo>
                <a:lnTo>
                  <a:pt x="385292" y="862204"/>
                </a:lnTo>
                <a:lnTo>
                  <a:pt x="339644" y="854765"/>
                </a:lnTo>
                <a:lnTo>
                  <a:pt x="295730" y="842690"/>
                </a:lnTo>
                <a:lnTo>
                  <a:pt x="253814" y="826243"/>
                </a:lnTo>
                <a:lnTo>
                  <a:pt x="214159" y="805688"/>
                </a:lnTo>
                <a:lnTo>
                  <a:pt x="177029" y="781288"/>
                </a:lnTo>
                <a:lnTo>
                  <a:pt x="142688" y="753309"/>
                </a:lnTo>
                <a:lnTo>
                  <a:pt x="111399" y="722015"/>
                </a:lnTo>
                <a:lnTo>
                  <a:pt x="83427" y="687669"/>
                </a:lnTo>
                <a:lnTo>
                  <a:pt x="59034" y="650536"/>
                </a:lnTo>
                <a:lnTo>
                  <a:pt x="38485" y="610880"/>
                </a:lnTo>
                <a:lnTo>
                  <a:pt x="22043" y="568965"/>
                </a:lnTo>
                <a:lnTo>
                  <a:pt x="9972" y="525055"/>
                </a:lnTo>
                <a:lnTo>
                  <a:pt x="2537" y="479414"/>
                </a:lnTo>
                <a:lnTo>
                  <a:pt x="0" y="432308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0694" y="214121"/>
            <a:ext cx="89852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9E36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E36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E36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9E36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139" y="1940432"/>
            <a:ext cx="3500754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9E36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892" y="3363290"/>
            <a:ext cx="9719945" cy="2131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16-Jul-26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809F7DB-2198-CBAC-9908-BF0F8B0AC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65157" y="19050"/>
            <a:ext cx="66168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xmlns="" id="{7413580B-3A53-93EB-8C77-0937C8FE2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2118" y="552450"/>
            <a:ext cx="6107761" cy="1164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de-DE" altLang="en-US" sz="1333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BUDGE BUDGE INSTITUTE OF TECHNOLOGY</a:t>
            </a:r>
            <a:endParaRPr lang="en-US" altLang="en-US" sz="1333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Affiliated to MAKAUT(formerly WBUT)&amp; Approved by AICTE, NAAC Accredited</a:t>
            </a:r>
            <a:endParaRPr lang="en-US" altLang="en-US" sz="6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it-IT" altLang="en-US" sz="9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Kolkata - 700 137,</a:t>
            </a:r>
            <a:r>
              <a:rPr lang="en-US" altLang="en-US" sz="9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PT" altLang="en-US" sz="9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 Bengal, India</a:t>
            </a:r>
            <a:endParaRPr lang="en-US" altLang="en-US" sz="1700" b="1" u="sng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33" b="1" u="sng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700" b="1" u="sng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40B1D747-E1A6-E6FA-F24C-48E208419FB3}"/>
              </a:ext>
            </a:extLst>
          </p:cNvPr>
          <p:cNvCxnSpPr>
            <a:cxnSpLocks/>
          </p:cNvCxnSpPr>
          <p:nvPr/>
        </p:nvCxnSpPr>
        <p:spPr>
          <a:xfrm flipV="1">
            <a:off x="0" y="1666914"/>
            <a:ext cx="12192000" cy="865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bject 2">
            <a:extLst>
              <a:ext uri="{FF2B5EF4-FFF2-40B4-BE49-F238E27FC236}">
                <a16:creationId xmlns:a16="http://schemas.microsoft.com/office/drawing/2014/main" xmlns="" id="{E627E0B0-92A2-4D76-4C1C-F936A4ADF883}"/>
              </a:ext>
            </a:extLst>
          </p:cNvPr>
          <p:cNvSpPr txBox="1">
            <a:spLocks/>
          </p:cNvSpPr>
          <p:nvPr/>
        </p:nvSpPr>
        <p:spPr>
          <a:xfrm>
            <a:off x="3264151" y="1888965"/>
            <a:ext cx="5663693" cy="50954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square" lIns="0" tIns="16933" rIns="0" bIns="0" rtlCol="0" anchor="b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6933">
              <a:spcBef>
                <a:spcPts val="133"/>
              </a:spcBef>
            </a:pPr>
            <a:r>
              <a:rPr lang="en-IN" sz="3200" b="1" dirty="0">
                <a:solidFill>
                  <a:schemeClr val="tx1"/>
                </a:solidFill>
                <a:latin typeface="Calibri"/>
                <a:cs typeface="Calibri"/>
              </a:rPr>
              <a:t>Major</a:t>
            </a:r>
            <a:r>
              <a:rPr lang="en-IN" sz="32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z="3200" b="1" dirty="0">
                <a:solidFill>
                  <a:schemeClr val="tx1"/>
                </a:solidFill>
                <a:latin typeface="Calibri"/>
                <a:cs typeface="Calibri"/>
              </a:rPr>
              <a:t>Project</a:t>
            </a:r>
            <a:r>
              <a:rPr lang="en-IN" sz="3200" b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z="3200" b="1" spc="-13" dirty="0">
                <a:solidFill>
                  <a:schemeClr val="tx1"/>
                </a:solidFill>
                <a:latin typeface="Calibri"/>
                <a:cs typeface="Calibri"/>
              </a:rPr>
              <a:t>Presentation</a:t>
            </a:r>
            <a:endParaRPr lang="en-IN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48ADD8-EAD7-460D-B025-6111CB072040}"/>
              </a:ext>
            </a:extLst>
          </p:cNvPr>
          <p:cNvSpPr txBox="1"/>
          <p:nvPr/>
        </p:nvSpPr>
        <p:spPr>
          <a:xfrm>
            <a:off x="1513358" y="2435197"/>
            <a:ext cx="9165283" cy="4329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Topic:- </a:t>
            </a:r>
            <a:r>
              <a:rPr lang="en-IN" sz="2800" b="1" dirty="0" smtClean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Deep Learning Based  Encoder and Decoder</a:t>
            </a:r>
            <a:endParaRPr lang="en-IN" sz="2800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lang="en-IN" dirty="0"/>
          </a:p>
          <a:p>
            <a:pPr algn="ctr"/>
            <a:r>
              <a:rPr lang="en-IN" sz="24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Presented by: </a:t>
            </a:r>
            <a:endParaRPr lang="en-IN" sz="4267" b="1" dirty="0">
              <a:latin typeface="Aptos" panose="020B0004020202020204" pitchFamily="34" charset="0"/>
              <a:cs typeface="Arial"/>
            </a:endParaRPr>
          </a:p>
          <a:p>
            <a:pPr algn="ctr">
              <a:spcBef>
                <a:spcPts val="780"/>
              </a:spcBef>
            </a:pP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Rupam</a:t>
            </a:r>
            <a:r>
              <a:rPr lang="en-IN" sz="2400" b="1" i="1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Moitra</a:t>
            </a:r>
            <a:r>
              <a:rPr lang="en-IN" sz="2400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:- 27600122067</a:t>
            </a:r>
            <a:endParaRPr lang="en-IN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spcBef>
                <a:spcPts val="780"/>
              </a:spcBef>
            </a:pP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Arbind</a:t>
            </a:r>
            <a:r>
              <a:rPr lang="en-IN" sz="2400" b="1" i="1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 Kumar Ray</a:t>
            </a:r>
            <a:r>
              <a:rPr lang="en-IN" sz="2400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:- 27600122032</a:t>
            </a:r>
            <a:endParaRPr lang="en-IN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spcBef>
                <a:spcPts val="780"/>
              </a:spcBef>
            </a:pP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Aatif</a:t>
            </a:r>
            <a:r>
              <a:rPr lang="en-IN" sz="2400" b="1" i="1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Aslam</a:t>
            </a:r>
            <a:r>
              <a:rPr lang="en-IN" sz="2400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:- 27600120081</a:t>
            </a:r>
            <a:endParaRPr lang="en-IN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spcBef>
                <a:spcPts val="780"/>
              </a:spcBef>
            </a:pP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Subhodip</a:t>
            </a:r>
            <a:r>
              <a:rPr lang="en-IN" sz="2400" b="1" i="1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N" sz="2400" b="1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</a:t>
            </a: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hakraborty</a:t>
            </a:r>
            <a:r>
              <a:rPr lang="en-IN" sz="2400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:- 27600122087</a:t>
            </a:r>
            <a:endParaRPr lang="en-IN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spcBef>
                <a:spcPts val="780"/>
              </a:spcBef>
            </a:pP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Archna</a:t>
            </a:r>
            <a:r>
              <a:rPr lang="en-IN" sz="2400" b="1" i="1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N" sz="2400" b="1" i="1" dirty="0" err="1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Kumari</a:t>
            </a:r>
            <a:r>
              <a:rPr lang="en-IN" sz="2400" dirty="0" smtClean="0">
                <a:latin typeface="Source Sans Pro" panose="020B0503030403020204" pitchFamily="34" charset="0"/>
                <a:ea typeface="Source Sans Pro" panose="020B0503030403020204" pitchFamily="34" charset="0"/>
              </a:rPr>
              <a:t>:- 27600122151</a:t>
            </a:r>
            <a:endParaRPr lang="en-IN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>
              <a:spcBef>
                <a:spcPts val="780"/>
              </a:spcBef>
            </a:pPr>
            <a:endParaRPr lang="en-IN" sz="1867" dirty="0">
              <a:latin typeface="Arial"/>
              <a:cs typeface="Arial"/>
            </a:endParaRPr>
          </a:p>
          <a:p>
            <a:pPr marL="299713" algn="ctr"/>
            <a:r>
              <a:rPr lang="en-IN" sz="2667" b="1" dirty="0">
                <a:solidFill>
                  <a:schemeClr val="accent1"/>
                </a:solidFill>
                <a:latin typeface="Arial"/>
                <a:cs typeface="Arial"/>
              </a:rPr>
              <a:t>Supervisor:- </a:t>
            </a:r>
            <a:r>
              <a:rPr lang="en-IN" sz="2667" b="1" i="1" dirty="0" smtClean="0">
                <a:solidFill>
                  <a:schemeClr val="accent1"/>
                </a:solidFill>
                <a:latin typeface="Arial"/>
                <a:cs typeface="Arial"/>
              </a:rPr>
              <a:t>Dr</a:t>
            </a:r>
            <a:r>
              <a:rPr lang="en-IN" sz="2667" i="1" dirty="0" smtClean="0">
                <a:solidFill>
                  <a:schemeClr val="accent1"/>
                </a:solidFill>
                <a:latin typeface="Arial"/>
                <a:cs typeface="Arial"/>
              </a:rPr>
              <a:t>. </a:t>
            </a:r>
            <a:r>
              <a:rPr lang="en-IN" sz="2667" i="1" dirty="0" err="1" smtClean="0">
                <a:solidFill>
                  <a:schemeClr val="accent1"/>
                </a:solidFill>
                <a:latin typeface="Arial"/>
                <a:cs typeface="Arial"/>
              </a:rPr>
              <a:t>Rajat</a:t>
            </a:r>
            <a:r>
              <a:rPr lang="en-IN" sz="2667" i="1" dirty="0" smtClean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IN" sz="2667" i="1" dirty="0" err="1" smtClean="0">
                <a:solidFill>
                  <a:schemeClr val="accent1"/>
                </a:solidFill>
                <a:latin typeface="Arial"/>
                <a:cs typeface="Arial"/>
              </a:rPr>
              <a:t>Suvra</a:t>
            </a:r>
            <a:r>
              <a:rPr lang="en-IN" sz="2667" i="1" dirty="0" smtClean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IN" sz="2667" i="1" dirty="0" err="1" smtClean="0">
                <a:solidFill>
                  <a:schemeClr val="accent1"/>
                </a:solidFill>
                <a:latin typeface="Arial"/>
                <a:cs typeface="Arial"/>
              </a:rPr>
              <a:t>Nandy</a:t>
            </a:r>
            <a:endParaRPr lang="en-IN" sz="2667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xmlns="" id="{FB0DD30A-C17A-FD2A-BDC7-AF7EEB0784A1}"/>
              </a:ext>
            </a:extLst>
          </p:cNvPr>
          <p:cNvSpPr txBox="1"/>
          <p:nvPr/>
        </p:nvSpPr>
        <p:spPr>
          <a:xfrm>
            <a:off x="10856721" y="214121"/>
            <a:ext cx="89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1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xmlns="" id="{574EA83E-3331-DD73-2D71-9F65528B545D}"/>
              </a:ext>
            </a:extLst>
          </p:cNvPr>
          <p:cNvSpPr txBox="1"/>
          <p:nvPr/>
        </p:nvSpPr>
        <p:spPr>
          <a:xfrm>
            <a:off x="5259068" y="1403884"/>
            <a:ext cx="167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Calibri"/>
                <a:cs typeface="Calibri"/>
              </a:rPr>
              <a:t>June , 2026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79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11" y="982091"/>
            <a:ext cx="2308390" cy="632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56721" y="214121"/>
            <a:ext cx="89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4B69A21B-9F3C-2B17-0DFB-2AC9CF77F314}"/>
              </a:ext>
            </a:extLst>
          </p:cNvPr>
          <p:cNvSpPr txBox="1">
            <a:spLocks/>
          </p:cNvSpPr>
          <p:nvPr/>
        </p:nvSpPr>
        <p:spPr>
          <a:xfrm>
            <a:off x="669733" y="1905000"/>
            <a:ext cx="10210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Develop an automated retinal blood vessel segmentation system based on the </a:t>
            </a:r>
            <a:r>
              <a:rPr lang="en-US" b="1" dirty="0" smtClean="0"/>
              <a:t>Encoder–Decoder concept</a:t>
            </a:r>
            <a:r>
              <a:rPr lang="en-US" dirty="0" smtClean="0"/>
              <a:t>.</a:t>
            </a:r>
          </a:p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 </a:t>
            </a:r>
            <a:r>
              <a:rPr lang="en-US" dirty="0" smtClean="0"/>
              <a:t>Use retinal </a:t>
            </a:r>
            <a:r>
              <a:rPr lang="en-US" dirty="0" err="1" smtClean="0"/>
              <a:t>fundus</a:t>
            </a:r>
            <a:r>
              <a:rPr lang="en-US" dirty="0" smtClean="0"/>
              <a:t> images from the </a:t>
            </a:r>
            <a:r>
              <a:rPr lang="en-US" b="1" dirty="0" smtClean="0"/>
              <a:t>DRIVE dataset</a:t>
            </a:r>
            <a:r>
              <a:rPr lang="en-US" dirty="0" smtClean="0"/>
              <a:t> for analysis</a:t>
            </a:r>
            <a:r>
              <a:rPr lang="en-US" dirty="0" smtClean="0"/>
              <a:t>.</a:t>
            </a:r>
          </a:p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 </a:t>
            </a:r>
            <a:r>
              <a:rPr lang="en-US" dirty="0" smtClean="0"/>
              <a:t>Improve image quality through preprocessing techniques such as Gaussian Blur and </a:t>
            </a:r>
            <a:r>
              <a:rPr lang="en-US" dirty="0" err="1" smtClean="0"/>
              <a:t>Thresholding</a:t>
            </a:r>
            <a:r>
              <a:rPr lang="en-US" dirty="0" smtClean="0"/>
              <a:t>.</a:t>
            </a:r>
          </a:p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 </a:t>
            </a:r>
            <a:r>
              <a:rPr lang="en-US" dirty="0" smtClean="0"/>
              <a:t>Extract retinal blood vessels accurately using the implemented segmentation workflow. </a:t>
            </a:r>
            <a:endParaRPr lang="en-US" dirty="0" smtClean="0"/>
          </a:p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Compare </a:t>
            </a:r>
            <a:r>
              <a:rPr lang="en-US" dirty="0" smtClean="0"/>
              <a:t>segmented images with expert-annotated ground truth masks. </a:t>
            </a:r>
            <a:endParaRPr lang="en-US" dirty="0" smtClean="0"/>
          </a:p>
          <a:p>
            <a:pPr lvl="0">
              <a:buClr>
                <a:srgbClr val="CFD8DC"/>
              </a:buClr>
              <a:defRPr/>
            </a:pPr>
            <a:r>
              <a:rPr lang="en-US" dirty="0" smtClean="0"/>
              <a:t>Evaluate </a:t>
            </a:r>
            <a:r>
              <a:rPr lang="en-US" dirty="0" smtClean="0"/>
              <a:t>performance using </a:t>
            </a:r>
            <a:r>
              <a:rPr lang="en-US" b="1" dirty="0" smtClean="0"/>
              <a:t>Accuracy, Precision, Recall, Specificity, and F1-Score</a:t>
            </a:r>
            <a:r>
              <a:rPr lang="en-US" dirty="0" smtClean="0"/>
              <a:t>.</a:t>
            </a:r>
            <a:endParaRPr kumimoji="0" lang="en-IN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010" y="982091"/>
            <a:ext cx="2316695" cy="5213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84585" y="214121"/>
            <a:ext cx="899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0BC2F4E-948F-E797-F23B-FB1CC88E48D7}"/>
              </a:ext>
            </a:extLst>
          </p:cNvPr>
          <p:cNvSpPr txBox="1"/>
          <p:nvPr/>
        </p:nvSpPr>
        <p:spPr>
          <a:xfrm>
            <a:off x="609601" y="1905000"/>
            <a:ext cx="110741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800" dirty="0">
                <a:latin typeface="Source Sans Pro"/>
              </a:rPr>
              <a:t>Develops an automated retinal blood vessel segmentation system using retinal </a:t>
            </a:r>
            <a:r>
              <a:rPr lang="en-US" sz="2800" dirty="0" err="1">
                <a:latin typeface="Source Sans Pro"/>
              </a:rPr>
              <a:t>fundus</a:t>
            </a:r>
            <a:r>
              <a:rPr lang="en-US" sz="2800" dirty="0">
                <a:latin typeface="Source Sans Pro"/>
              </a:rPr>
              <a:t> images from the </a:t>
            </a:r>
            <a:r>
              <a:rPr lang="en-US" sz="2800" b="1" dirty="0">
                <a:latin typeface="Source Sans Pro"/>
              </a:rPr>
              <a:t>DRIVE dataset</a:t>
            </a:r>
            <a:r>
              <a:rPr lang="en-US" sz="2800" dirty="0">
                <a:latin typeface="Source Sans Pro"/>
              </a:rPr>
              <a:t>. </a:t>
            </a:r>
            <a:endParaRPr lang="en-US" sz="2800" dirty="0" smtClean="0">
              <a:latin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800" dirty="0" smtClean="0">
                <a:latin typeface="Source Sans Pro"/>
              </a:rPr>
              <a:t>Applies </a:t>
            </a:r>
            <a:r>
              <a:rPr lang="en-US" sz="2800" dirty="0">
                <a:latin typeface="Source Sans Pro"/>
              </a:rPr>
              <a:t>image preprocessing techniques such as </a:t>
            </a:r>
            <a:r>
              <a:rPr lang="en-US" sz="2800" b="1" dirty="0">
                <a:latin typeface="Source Sans Pro"/>
              </a:rPr>
              <a:t>Gaussian Blur</a:t>
            </a:r>
            <a:r>
              <a:rPr lang="en-US" sz="2800" dirty="0">
                <a:latin typeface="Source Sans Pro"/>
              </a:rPr>
              <a:t> and </a:t>
            </a:r>
            <a:r>
              <a:rPr lang="en-US" sz="2800" b="1" dirty="0" err="1">
                <a:latin typeface="Source Sans Pro"/>
              </a:rPr>
              <a:t>Thresholding</a:t>
            </a:r>
            <a:r>
              <a:rPr lang="en-US" sz="2800" dirty="0">
                <a:latin typeface="Source Sans Pro"/>
              </a:rPr>
              <a:t> to improve vessel extraction. </a:t>
            </a:r>
            <a:endParaRPr lang="en-US" sz="2800" dirty="0" smtClean="0">
              <a:latin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800" dirty="0" smtClean="0">
                <a:latin typeface="Source Sans Pro"/>
              </a:rPr>
              <a:t>Segments </a:t>
            </a:r>
            <a:r>
              <a:rPr lang="en-US" sz="2800" dirty="0">
                <a:latin typeface="Source Sans Pro"/>
              </a:rPr>
              <a:t>retinal blood vessels and compares the results with expert-annotated </a:t>
            </a:r>
            <a:r>
              <a:rPr lang="en-US" sz="2800" b="1" dirty="0">
                <a:latin typeface="Source Sans Pro"/>
              </a:rPr>
              <a:t>ground truth masks</a:t>
            </a:r>
            <a:r>
              <a:rPr lang="en-US" sz="2800" dirty="0">
                <a:latin typeface="Source Sans Pro"/>
              </a:rPr>
              <a:t>. </a:t>
            </a:r>
            <a:endParaRPr lang="en-US" sz="2800" dirty="0" smtClean="0">
              <a:latin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800" dirty="0" smtClean="0">
                <a:latin typeface="Source Sans Pro"/>
              </a:rPr>
              <a:t>Evaluates </a:t>
            </a:r>
            <a:r>
              <a:rPr lang="en-US" sz="2800" dirty="0">
                <a:latin typeface="Source Sans Pro"/>
              </a:rPr>
              <a:t>system performance using </a:t>
            </a:r>
            <a:r>
              <a:rPr lang="en-US" sz="2800" b="1" dirty="0">
                <a:latin typeface="Source Sans Pro"/>
              </a:rPr>
              <a:t>Accuracy, Precision, Recall, Specificity, and F1-Score</a:t>
            </a:r>
            <a:r>
              <a:rPr lang="en-US" sz="2800" dirty="0">
                <a:latin typeface="Source Sans Pro"/>
              </a:rPr>
              <a:t>. </a:t>
            </a:r>
            <a:endParaRPr lang="en-US" sz="2800" dirty="0" smtClean="0">
              <a:latin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800" dirty="0" smtClean="0">
                <a:latin typeface="Source Sans Pro"/>
              </a:rPr>
              <a:t>Provides </a:t>
            </a:r>
            <a:r>
              <a:rPr lang="en-US" sz="2800" dirty="0">
                <a:latin typeface="Source Sans Pro"/>
              </a:rPr>
              <a:t>a simple and reproducible workflow that can be extended for future deep learning–based medical image analysis.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696" y="990346"/>
            <a:ext cx="4755235" cy="5130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56721" y="214121"/>
            <a:ext cx="89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3B4C52E-6661-273F-145E-F01732DBD7EC}"/>
              </a:ext>
            </a:extLst>
          </p:cNvPr>
          <p:cNvSpPr txBox="1"/>
          <p:nvPr/>
        </p:nvSpPr>
        <p:spPr>
          <a:xfrm>
            <a:off x="609600" y="1905000"/>
            <a:ext cx="108204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55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Courier New" pitchFamily="49" charset="0"/>
              <a:buChar char="o"/>
              <a:tabLst/>
              <a:defRPr/>
            </a:pPr>
            <a:r>
              <a:rPr lang="en-US" sz="2400" dirty="0">
                <a:latin typeface="Source Sans Pro"/>
              </a:rPr>
              <a:t>Previous studies have shown that </a:t>
            </a:r>
            <a:r>
              <a:rPr lang="en-US" sz="2400" b="1" dirty="0">
                <a:latin typeface="Source Sans Pro"/>
              </a:rPr>
              <a:t>retinal blood vessel segmentation</a:t>
            </a:r>
            <a:r>
              <a:rPr lang="en-US" sz="2400" dirty="0">
                <a:latin typeface="Source Sans Pro"/>
              </a:rPr>
              <a:t> is an important step for the early detection of </a:t>
            </a:r>
            <a:r>
              <a:rPr lang="en-US" sz="2400" b="1" dirty="0" smtClean="0">
                <a:latin typeface="Source Sans Pro"/>
              </a:rPr>
              <a:t>DR</a:t>
            </a: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>
                <a:latin typeface="Source Sans Pro"/>
              </a:rPr>
              <a:t>and other retinal </a:t>
            </a:r>
            <a:r>
              <a:rPr lang="en-US" sz="2400" dirty="0" smtClean="0">
                <a:latin typeface="Source Sans Pro"/>
              </a:rPr>
              <a:t>diseases.</a:t>
            </a:r>
          </a:p>
          <a:p>
            <a:pPr marL="457200" marR="0" lvl="0" indent="-355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Courier New" pitchFamily="49" charset="0"/>
              <a:buChar char="o"/>
              <a:tabLst/>
              <a:defRPr/>
            </a:pPr>
            <a:r>
              <a:rPr lang="en-US" sz="2400" dirty="0" smtClean="0">
                <a:latin typeface="Source Sans Pro"/>
              </a:rPr>
              <a:t>Traditional </a:t>
            </a:r>
            <a:r>
              <a:rPr lang="en-US" sz="2400" dirty="0">
                <a:latin typeface="Source Sans Pro"/>
              </a:rPr>
              <a:t>image processing methods such as </a:t>
            </a:r>
            <a:r>
              <a:rPr lang="en-US" sz="2400" b="1" dirty="0">
                <a:latin typeface="Source Sans Pro"/>
              </a:rPr>
              <a:t>filtering, </a:t>
            </a:r>
            <a:r>
              <a:rPr lang="en-US" sz="2400" b="1" dirty="0" err="1">
                <a:latin typeface="Source Sans Pro"/>
              </a:rPr>
              <a:t>thresholding</a:t>
            </a:r>
            <a:r>
              <a:rPr lang="en-US" sz="2400" b="1" dirty="0" smtClean="0">
                <a:latin typeface="Source Sans Pro"/>
              </a:rPr>
              <a:t>,</a:t>
            </a: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>
                <a:latin typeface="Source Sans Pro"/>
              </a:rPr>
              <a:t>are simple but often fail to detect thin blood vessels accurately. </a:t>
            </a:r>
            <a:endParaRPr lang="en-US" sz="2400" dirty="0" smtClean="0">
              <a:latin typeface="Source Sans Pro"/>
            </a:endParaRPr>
          </a:p>
          <a:p>
            <a:pPr marL="457200" marR="0" lvl="0" indent="-355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Courier New" pitchFamily="49" charset="0"/>
              <a:buChar char="o"/>
              <a:tabLst/>
              <a:defRPr/>
            </a:pPr>
            <a:r>
              <a:rPr lang="en-US" sz="2400" dirty="0" smtClean="0">
                <a:latin typeface="Source Sans Pro"/>
              </a:rPr>
              <a:t>Recent </a:t>
            </a:r>
            <a:r>
              <a:rPr lang="en-US" sz="2400" dirty="0">
                <a:latin typeface="Source Sans Pro"/>
              </a:rPr>
              <a:t>research has focused on </a:t>
            </a:r>
            <a:r>
              <a:rPr lang="en-US" sz="2400" b="1" dirty="0" smtClean="0">
                <a:latin typeface="Source Sans Pro"/>
              </a:rPr>
              <a:t>Encoder–Decoder </a:t>
            </a:r>
            <a:r>
              <a:rPr lang="en-US" sz="2400" b="1" dirty="0">
                <a:latin typeface="Source Sans Pro"/>
              </a:rPr>
              <a:t>architectures</a:t>
            </a:r>
            <a:r>
              <a:rPr lang="en-US" sz="2400" dirty="0">
                <a:latin typeface="Source Sans Pro"/>
              </a:rPr>
              <a:t>, which improve segmentation accuracy by learning complex vessel features </a:t>
            </a:r>
            <a:r>
              <a:rPr lang="en-US" sz="2400" dirty="0" smtClean="0">
                <a:latin typeface="Source Sans Pro"/>
              </a:rPr>
              <a:t>automatically.</a:t>
            </a:r>
          </a:p>
          <a:p>
            <a:pPr marL="457200" marR="0" lvl="0" indent="-355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Courier New" pitchFamily="49" charset="0"/>
              <a:buChar char="o"/>
              <a:tabLst/>
              <a:defRPr/>
            </a:pPr>
            <a:r>
              <a:rPr lang="en-US" sz="2400" dirty="0" smtClean="0">
                <a:latin typeface="Source Sans Pro"/>
              </a:rPr>
              <a:t>Performance </a:t>
            </a:r>
            <a:r>
              <a:rPr lang="en-US" sz="2400" dirty="0">
                <a:latin typeface="Source Sans Pro"/>
              </a:rPr>
              <a:t>of segmentation methods is commonly evaluated using </a:t>
            </a:r>
            <a:r>
              <a:rPr lang="en-US" sz="2400" b="1" dirty="0">
                <a:latin typeface="Source Sans Pro"/>
              </a:rPr>
              <a:t>Accuracy, Precision, Recall, Specificity, and </a:t>
            </a:r>
            <a:r>
              <a:rPr lang="en-US" sz="2400" b="1" dirty="0" smtClean="0">
                <a:latin typeface="Source Sans Pro"/>
              </a:rPr>
              <a:t>F1-Score.</a:t>
            </a:r>
            <a:r>
              <a:rPr lang="en-US" sz="2400" dirty="0" smtClean="0">
                <a:latin typeface="Source Sans Pro"/>
              </a:rPr>
              <a:t> 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762000"/>
            <a:ext cx="9601200" cy="4167166"/>
          </a:xfrm>
          <a:prstGeom prst="rect">
            <a:avLst/>
          </a:prstGeom>
        </p:spPr>
        <p:txBody>
          <a:bodyPr vert="horz" wrap="square" lIns="0" tIns="12065" rIns="0" bIns="0" numCol="2" rtlCol="0">
            <a:sp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tabLst/>
              <a:defRPr/>
            </a:pPr>
            <a:r>
              <a:rPr lang="en-US" sz="2400" b="1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    Programming Language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Python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tabLst/>
              <a:defRPr/>
            </a:pPr>
            <a:r>
              <a:rPr kumimoji="0" lang="en-I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Development Environment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IN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Google </a:t>
            </a:r>
            <a:r>
              <a:rPr lang="en-IN" sz="2000" dirty="0" err="1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Colaboratory</a:t>
            </a:r>
            <a:r>
              <a:rPr lang="en-IN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 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tabLst/>
              <a:defRPr/>
            </a:pPr>
            <a:r>
              <a:rPr lang="en-US" sz="2400" b="1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Dataset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DRIVE Dataset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tabLst/>
              <a:defRPr/>
            </a:pPr>
            <a:r>
              <a:rPr lang="en-US" sz="2400" b="1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Libraries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OpenCV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itchFamily="34" charset="0"/>
              <a:buChar char="•"/>
              <a:tabLst/>
              <a:defRPr/>
            </a:pPr>
            <a:r>
              <a:rPr lang="en-US" sz="2000" dirty="0" err="1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NumPy</a:t>
            </a:r>
            <a:endParaRPr lang="en-US" sz="2000" dirty="0">
              <a:solidFill>
                <a:srgbClr val="263238"/>
              </a:solidFill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Matplotlib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itchFamily="34" charset="0"/>
              <a:buChar char="•"/>
              <a:tabLst/>
              <a:defRPr/>
            </a:pPr>
            <a:r>
              <a:rPr lang="en-US" sz="2000" dirty="0" err="1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Scikit</a:t>
            </a:r>
            <a:r>
              <a:rPr lang="en-US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-learn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tabLst/>
              <a:defRPr/>
            </a:pPr>
            <a:r>
              <a:rPr lang="en-US" sz="2000" b="1" dirty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 </a:t>
            </a:r>
            <a:r>
              <a:rPr lang="en-US" sz="2000" b="1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     Image Processing Techniques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Gaussian</a:t>
            </a:r>
            <a:r>
              <a:rPr kumimoji="0" lang="en-US" sz="2000" i="0" u="none" strike="noStrike" kern="0" cap="none" spc="0" normalizeH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 Blur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Thresholding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Pixel-wise Comparison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000" b="1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Evaluation Metrics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Accuracy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Precision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smtClean="0">
                <a:solidFill>
                  <a:srgbClr val="263238"/>
                </a:solidFill>
                <a:latin typeface="Source Sans Pro"/>
                <a:ea typeface="Source Sans Pro"/>
                <a:sym typeface="Source Sans Pro"/>
              </a:rPr>
              <a:t>Recall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Specificity</a:t>
            </a:r>
          </a:p>
          <a:p>
            <a:pPr marL="630238" marR="0" lvl="0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Source Sans Pro"/>
                <a:ea typeface="Source Sans Pro"/>
                <a:sym typeface="Source Sans Pro"/>
              </a:rPr>
              <a:t>F1-Score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solidFill>
                  <a:srgbClr val="000000"/>
                </a:solidFill>
              </a:rPr>
              <a:t>Page</a:t>
            </a:r>
            <a:r>
              <a:rPr sz="1800" spc="6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-</a:t>
            </a:r>
            <a:r>
              <a:rPr sz="1800" spc="70" dirty="0">
                <a:solidFill>
                  <a:srgbClr val="000000"/>
                </a:solidFill>
              </a:rPr>
              <a:t> </a:t>
            </a:r>
            <a:r>
              <a:rPr sz="1800" spc="-50" dirty="0">
                <a:solidFill>
                  <a:srgbClr val="000000"/>
                </a:solidFill>
              </a:rPr>
              <a:t>5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A0E6FA16-01B4-B0F5-FDBC-B626DF35D18F}"/>
              </a:ext>
            </a:extLst>
          </p:cNvPr>
          <p:cNvGrpSpPr/>
          <p:nvPr/>
        </p:nvGrpSpPr>
        <p:grpSpPr>
          <a:xfrm>
            <a:off x="1371600" y="0"/>
            <a:ext cx="3886200" cy="6658293"/>
            <a:chOff x="8303769" y="-1"/>
            <a:chExt cx="3886200" cy="6658293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xmlns="" id="{BF550B5D-BCBB-26BD-2C68-47294DA8A8BD}"/>
                </a:ext>
              </a:extLst>
            </p:cNvPr>
            <p:cNvPicPr/>
            <p:nvPr/>
          </p:nvPicPr>
          <p:blipFill>
            <a:blip r:embed="rId2" cstate="print"/>
            <a:srcRect t="-1" r="52" b="25765"/>
            <a:stretch>
              <a:fillRect/>
            </a:stretch>
          </p:blipFill>
          <p:spPr>
            <a:xfrm>
              <a:off x="8303769" y="-1"/>
              <a:ext cx="3886200" cy="509111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9EF6E393-BA9F-E93E-D8F1-26C324E9D7F9}"/>
                </a:ext>
              </a:extLst>
            </p:cNvPr>
            <p:cNvSpPr/>
            <p:nvPr/>
          </p:nvSpPr>
          <p:spPr>
            <a:xfrm>
              <a:off x="11430889" y="6258877"/>
              <a:ext cx="398780" cy="399415"/>
            </a:xfrm>
            <a:custGeom>
              <a:avLst/>
              <a:gdLst/>
              <a:ahLst/>
              <a:cxnLst/>
              <a:rect l="l" t="t" r="r" b="b"/>
              <a:pathLst>
                <a:path w="398779" h="399415">
                  <a:moveTo>
                    <a:pt x="0" y="199402"/>
                  </a:moveTo>
                  <a:lnTo>
                    <a:pt x="5266" y="153679"/>
                  </a:lnTo>
                  <a:lnTo>
                    <a:pt x="20268" y="111707"/>
                  </a:lnTo>
                  <a:lnTo>
                    <a:pt x="43807" y="74683"/>
                  </a:lnTo>
                  <a:lnTo>
                    <a:pt x="74686" y="43804"/>
                  </a:lnTo>
                  <a:lnTo>
                    <a:pt x="111708" y="20266"/>
                  </a:lnTo>
                  <a:lnTo>
                    <a:pt x="153675" y="5265"/>
                  </a:lnTo>
                  <a:lnTo>
                    <a:pt x="199389" y="0"/>
                  </a:lnTo>
                  <a:lnTo>
                    <a:pt x="245144" y="5265"/>
                  </a:lnTo>
                  <a:lnTo>
                    <a:pt x="287127" y="20266"/>
                  </a:lnTo>
                  <a:lnTo>
                    <a:pt x="324146" y="43804"/>
                  </a:lnTo>
                  <a:lnTo>
                    <a:pt x="355012" y="74683"/>
                  </a:lnTo>
                  <a:lnTo>
                    <a:pt x="378534" y="111707"/>
                  </a:lnTo>
                  <a:lnTo>
                    <a:pt x="393520" y="153679"/>
                  </a:lnTo>
                  <a:lnTo>
                    <a:pt x="398779" y="199402"/>
                  </a:lnTo>
                  <a:lnTo>
                    <a:pt x="393520" y="245126"/>
                  </a:lnTo>
                  <a:lnTo>
                    <a:pt x="378534" y="287098"/>
                  </a:lnTo>
                  <a:lnTo>
                    <a:pt x="355012" y="324121"/>
                  </a:lnTo>
                  <a:lnTo>
                    <a:pt x="324146" y="355001"/>
                  </a:lnTo>
                  <a:lnTo>
                    <a:pt x="287127" y="378539"/>
                  </a:lnTo>
                  <a:lnTo>
                    <a:pt x="245144" y="393539"/>
                  </a:lnTo>
                  <a:lnTo>
                    <a:pt x="199389" y="398805"/>
                  </a:lnTo>
                  <a:lnTo>
                    <a:pt x="153675" y="393539"/>
                  </a:lnTo>
                  <a:lnTo>
                    <a:pt x="111708" y="378539"/>
                  </a:lnTo>
                  <a:lnTo>
                    <a:pt x="74686" y="355001"/>
                  </a:lnTo>
                  <a:lnTo>
                    <a:pt x="43807" y="324121"/>
                  </a:lnTo>
                  <a:lnTo>
                    <a:pt x="20268" y="287098"/>
                  </a:lnTo>
                  <a:lnTo>
                    <a:pt x="5266" y="245126"/>
                  </a:lnTo>
                  <a:lnTo>
                    <a:pt x="0" y="19940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xmlns="" id="{AFF7C0D0-7BF1-275C-BA2C-06E15BCB60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03285" y="257556"/>
              <a:ext cx="2112645" cy="367538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xmlns="" id="{D7D47171-9D31-9402-A176-8F0ECC114FF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4141" y="806195"/>
              <a:ext cx="2145791" cy="367538"/>
            </a:xfrm>
            <a:prstGeom prst="rect">
              <a:avLst/>
            </a:prstGeom>
          </p:spPr>
        </p:pic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D5D1C4FB-8C46-97DD-0998-C4F3F478D4C8}"/>
              </a:ext>
            </a:extLst>
          </p:cNvPr>
          <p:cNvSpPr txBox="1">
            <a:spLocks/>
          </p:cNvSpPr>
          <p:nvPr/>
        </p:nvSpPr>
        <p:spPr>
          <a:xfrm>
            <a:off x="10640694" y="214121"/>
            <a:ext cx="89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90" dirty="0">
                <a:solidFill>
                  <a:srgbClr val="000000"/>
                </a:solidFill>
              </a:rPr>
              <a:t>Page</a:t>
            </a:r>
            <a:r>
              <a:rPr lang="en-IN" b="1" spc="65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000000"/>
                </a:solidFill>
              </a:rPr>
              <a:t>-</a:t>
            </a:r>
            <a:r>
              <a:rPr lang="en-IN" b="1" spc="70" dirty="0">
                <a:solidFill>
                  <a:srgbClr val="000000"/>
                </a:solidFill>
              </a:rPr>
              <a:t> </a:t>
            </a:r>
            <a:r>
              <a:rPr lang="en-IN" b="1" spc="-50" dirty="0">
                <a:solidFill>
                  <a:srgbClr val="000000"/>
                </a:solidFill>
              </a:rPr>
              <a:t>6</a:t>
            </a:r>
            <a:endParaRPr lang="en-IN" b="1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1066800" y="1371600"/>
            <a:ext cx="9802037" cy="4431983"/>
          </a:xfrm>
        </p:spPr>
        <p:txBody>
          <a:bodyPr/>
          <a:lstStyle/>
          <a:p>
            <a:pPr>
              <a:buClr>
                <a:schemeClr val="bg2"/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Load retinal </a:t>
            </a:r>
            <a:r>
              <a:rPr lang="en-US" sz="2400" dirty="0" err="1" smtClean="0">
                <a:latin typeface="Source Sans Pro"/>
              </a:rPr>
              <a:t>fundus</a:t>
            </a:r>
            <a:r>
              <a:rPr lang="en-US" sz="2400" dirty="0" smtClean="0">
                <a:latin typeface="Source Sans Pro"/>
              </a:rPr>
              <a:t> images and corresponding ground truth masks </a:t>
            </a:r>
            <a:r>
              <a:rPr lang="en-US" sz="2400" dirty="0" smtClean="0">
                <a:latin typeface="Source Sans Pro"/>
              </a:rPr>
              <a:t>   from </a:t>
            </a:r>
            <a:r>
              <a:rPr lang="en-US" sz="2400" dirty="0" smtClean="0">
                <a:latin typeface="Source Sans Pro"/>
              </a:rPr>
              <a:t>the </a:t>
            </a:r>
            <a:r>
              <a:rPr lang="en-US" sz="2400" b="1" dirty="0" smtClean="0">
                <a:latin typeface="Source Sans Pro"/>
              </a:rPr>
              <a:t>DRIVE dataset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>
              <a:buClr>
                <a:schemeClr val="bg2">
                  <a:lumMod val="90000"/>
                </a:schemeClr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 smtClean="0">
                <a:latin typeface="Source Sans Pro"/>
              </a:rPr>
              <a:t>Perform </a:t>
            </a:r>
            <a:r>
              <a:rPr lang="en-US" sz="2400" b="1" dirty="0" smtClean="0">
                <a:latin typeface="Source Sans Pro"/>
              </a:rPr>
              <a:t>image preprocessing</a:t>
            </a:r>
            <a:r>
              <a:rPr lang="en-US" sz="2400" dirty="0" smtClean="0">
                <a:latin typeface="Source Sans Pro"/>
              </a:rPr>
              <a:t> to reduce noise and enhance retinal image quality. </a:t>
            </a:r>
            <a:endParaRPr lang="en-US" sz="2400" dirty="0" smtClean="0">
              <a:latin typeface="Source Sans Pro"/>
            </a:endParaRPr>
          </a:p>
          <a:p>
            <a:pPr>
              <a:buClr>
                <a:schemeClr val="bg2"/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Apply </a:t>
            </a:r>
            <a:r>
              <a:rPr lang="en-US" sz="2400" b="1" dirty="0" smtClean="0">
                <a:latin typeface="Source Sans Pro"/>
              </a:rPr>
              <a:t>Gaussian Blur</a:t>
            </a:r>
            <a:r>
              <a:rPr lang="en-US" sz="2400" dirty="0" smtClean="0">
                <a:latin typeface="Source Sans Pro"/>
              </a:rPr>
              <a:t> and </a:t>
            </a:r>
            <a:r>
              <a:rPr lang="en-US" sz="2400" b="1" dirty="0" err="1" smtClean="0">
                <a:latin typeface="Source Sans Pro"/>
              </a:rPr>
              <a:t>Thresholding</a:t>
            </a:r>
            <a:r>
              <a:rPr lang="en-US" sz="2400" dirty="0" smtClean="0">
                <a:latin typeface="Source Sans Pro"/>
              </a:rPr>
              <a:t> to accurately extract retinal blood vessels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>
              <a:buClr>
                <a:schemeClr val="bg2"/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Compare </a:t>
            </a:r>
            <a:r>
              <a:rPr lang="en-US" sz="2400" dirty="0" smtClean="0">
                <a:latin typeface="Source Sans Pro"/>
              </a:rPr>
              <a:t>the segmented blood vessels with expert-annotated </a:t>
            </a:r>
            <a:r>
              <a:rPr lang="en-US" sz="2400" b="1" dirty="0" smtClean="0">
                <a:latin typeface="Source Sans Pro"/>
              </a:rPr>
              <a:t>ground truth masks</a:t>
            </a:r>
            <a:r>
              <a:rPr lang="en-US" sz="2400" dirty="0" smtClean="0">
                <a:latin typeface="Source Sans Pro"/>
              </a:rPr>
              <a:t> using pixel-wise comparison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>
              <a:buClr>
                <a:schemeClr val="bg2"/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Evaluate </a:t>
            </a:r>
            <a:r>
              <a:rPr lang="en-US" sz="2400" dirty="0" smtClean="0">
                <a:latin typeface="Source Sans Pro"/>
              </a:rPr>
              <a:t>the segmentation performance using </a:t>
            </a:r>
            <a:r>
              <a:rPr lang="en-US" sz="2400" b="1" dirty="0" smtClean="0">
                <a:latin typeface="Source Sans Pro"/>
              </a:rPr>
              <a:t>Accuracy, Precision, Recall, Specificity, and F1-Score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>
              <a:buClr>
                <a:schemeClr val="bg2"/>
              </a:buClr>
              <a:buFont typeface="Courier New" pitchFamily="49" charset="0"/>
              <a:buChar char="o"/>
            </a:pP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 smtClean="0">
                <a:latin typeface="Source Sans Pro"/>
              </a:rPr>
              <a:t>Provide a simple, reliable, and reproducible workflow for automated retinal blood vessel segmentation.</a:t>
            </a:r>
            <a:endParaRPr lang="en-US" sz="2400" dirty="0"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6255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30088" y="2071687"/>
            <a:ext cx="3185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spc="-80" dirty="0" smtClean="0"/>
              <a:t>Dataset Loading</a:t>
            </a:r>
            <a:endParaRPr sz="2800" dirty="0"/>
          </a:p>
        </p:txBody>
      </p:sp>
      <p:sp>
        <p:nvSpPr>
          <p:cNvPr id="7" name="object 7"/>
          <p:cNvSpPr txBox="1"/>
          <p:nvPr/>
        </p:nvSpPr>
        <p:spPr>
          <a:xfrm>
            <a:off x="2121865" y="2057400"/>
            <a:ext cx="2498598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b="1" spc="-325" dirty="0" smtClean="0">
                <a:solidFill>
                  <a:srgbClr val="9E3611"/>
                </a:solidFill>
                <a:latin typeface="Cambria"/>
                <a:cs typeface="Cambria"/>
              </a:rPr>
              <a:t>Development Environment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84585" y="214121"/>
            <a:ext cx="899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7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B5D40A1-0F75-CE9C-39C1-CAED2320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7600"/>
            <a:ext cx="5257800" cy="564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313D2B9-D384-F389-23D9-9F6D53AC776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9463" y="2838683"/>
            <a:ext cx="5267044" cy="25162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2161607-068D-235F-5EAB-861EA2992FD3}"/>
              </a:ext>
            </a:extLst>
          </p:cNvPr>
          <p:cNvSpPr/>
          <p:nvPr/>
        </p:nvSpPr>
        <p:spPr>
          <a:xfrm>
            <a:off x="838200" y="984461"/>
            <a:ext cx="631134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Dataset &amp; Image Loading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1B79253-BD23-9D0E-3228-BB905EC5C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105150"/>
            <a:ext cx="3733800" cy="30289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815927B-443F-18A0-1BD2-37B493926A5D}"/>
              </a:ext>
            </a:extLst>
          </p:cNvPr>
          <p:cNvSpPr/>
          <p:nvPr/>
        </p:nvSpPr>
        <p:spPr>
          <a:xfrm>
            <a:off x="838200" y="1047780"/>
            <a:ext cx="86196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0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mage Processing &amp; Segmentation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BEC9E921-9A97-02DA-DB57-181B426BC575}"/>
              </a:ext>
            </a:extLst>
          </p:cNvPr>
          <p:cNvSpPr txBox="1">
            <a:spLocks/>
          </p:cNvSpPr>
          <p:nvPr/>
        </p:nvSpPr>
        <p:spPr>
          <a:xfrm>
            <a:off x="2140902" y="2362200"/>
            <a:ext cx="3185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en-IN" sz="2800" dirty="0" smtClean="0"/>
              <a:t>Image </a:t>
            </a:r>
            <a:r>
              <a:rPr lang="en-IN" sz="2800" dirty="0" err="1" smtClean="0"/>
              <a:t>Preprocessing</a:t>
            </a:r>
            <a:endParaRPr lang="en-IN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CDD52A4-8D13-AC3A-C361-59D4AA78DFC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51062" y="3319078"/>
            <a:ext cx="3607648" cy="2601094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xmlns="" id="{4BDF03A4-BAC5-D7B6-AD27-AAD949804D47}"/>
              </a:ext>
            </a:extLst>
          </p:cNvPr>
          <p:cNvSpPr txBox="1">
            <a:spLocks/>
          </p:cNvSpPr>
          <p:nvPr/>
        </p:nvSpPr>
        <p:spPr>
          <a:xfrm>
            <a:off x="7461988" y="2362200"/>
            <a:ext cx="318579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en-IN" sz="2800" dirty="0" smtClean="0"/>
              <a:t>Final Blood Vessel Segmentation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64831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A808EF-9A6D-E32E-60B6-770F2D4C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655371B-3DA1-1A34-F382-D38B433FFFFD}"/>
              </a:ext>
            </a:extLst>
          </p:cNvPr>
          <p:cNvSpPr/>
          <p:nvPr/>
        </p:nvSpPr>
        <p:spPr>
          <a:xfrm>
            <a:off x="304804" y="990600"/>
            <a:ext cx="856516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&amp; Performance Evaluation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DE51DCC8-AA95-9DDC-154B-595A521D0568}"/>
              </a:ext>
            </a:extLst>
          </p:cNvPr>
          <p:cNvSpPr txBox="1">
            <a:spLocks/>
          </p:cNvSpPr>
          <p:nvPr/>
        </p:nvSpPr>
        <p:spPr>
          <a:xfrm>
            <a:off x="1884315" y="2290287"/>
            <a:ext cx="318579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en-IN" sz="2800" dirty="0" smtClean="0"/>
              <a:t>Performance Evaluation Output</a:t>
            </a:r>
            <a:endParaRPr lang="en-IN" sz="2800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xmlns="" id="{22A20B27-699D-0704-B04F-AA424245985F}"/>
              </a:ext>
            </a:extLst>
          </p:cNvPr>
          <p:cNvSpPr txBox="1">
            <a:spLocks/>
          </p:cNvSpPr>
          <p:nvPr/>
        </p:nvSpPr>
        <p:spPr>
          <a:xfrm>
            <a:off x="6400800" y="2299337"/>
            <a:ext cx="427281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en-IN" sz="2800" dirty="0" smtClean="0"/>
              <a:t>Statistical Graph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4AFDC9-A58A-9C40-FAB0-807B852083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22967" y="3429000"/>
            <a:ext cx="3708492" cy="2209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8F7B15E-4FD1-4EF0-95A1-1194251A3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160" y="3049584"/>
            <a:ext cx="3564215" cy="28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28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685800"/>
            <a:ext cx="2758732" cy="5213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0114" y="1676400"/>
            <a:ext cx="9720580" cy="470641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400" dirty="0">
                <a:latin typeface="Source Sans Pro"/>
              </a:rPr>
              <a:t>Successfully developed an automated retinal blood vessel segmentation workflow using the </a:t>
            </a:r>
            <a:r>
              <a:rPr lang="en-US" sz="2400" b="1" dirty="0">
                <a:latin typeface="Source Sans Pro"/>
              </a:rPr>
              <a:t>DRIVE dataset</a:t>
            </a:r>
            <a:r>
              <a:rPr lang="en-US" sz="2400" dirty="0">
                <a:latin typeface="Source Sans Pro"/>
              </a:rPr>
              <a:t> and image preprocessing techniques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>
                <a:latin typeface="Source Sans Pro"/>
              </a:rPr>
              <a:t>The proposed approach effectively extracted retinal blood vessels and evaluated performance using </a:t>
            </a:r>
            <a:r>
              <a:rPr lang="en-US" sz="2400" b="1" dirty="0">
                <a:latin typeface="Source Sans Pro"/>
              </a:rPr>
              <a:t>Accuracy, Precision, Recall, Specificity, and F1-Score</a:t>
            </a:r>
            <a:r>
              <a:rPr lang="en-US" sz="2400" dirty="0">
                <a:latin typeface="Source Sans Pro"/>
              </a:rPr>
              <a:t>. </a:t>
            </a:r>
            <a:endParaRPr lang="en-US" sz="2400" dirty="0" smtClean="0">
              <a:latin typeface="Source Sans Pro"/>
            </a:endParaRP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400" dirty="0" smtClean="0">
                <a:latin typeface="Source Sans Pro"/>
              </a:rPr>
              <a:t>The </a:t>
            </a:r>
            <a:r>
              <a:rPr lang="en-US" sz="2400" b="1" dirty="0">
                <a:latin typeface="Source Sans Pro"/>
              </a:rPr>
              <a:t>Encoder–Decoder concept</a:t>
            </a:r>
            <a:r>
              <a:rPr lang="en-US" sz="2400" dirty="0">
                <a:latin typeface="Source Sans Pro"/>
              </a:rPr>
              <a:t> provides a strong theoretical foundation for advanced retinal image segmentation and future deep learning applications</a:t>
            </a:r>
            <a:r>
              <a:rPr lang="en-US" sz="2400" dirty="0" smtClean="0">
                <a:latin typeface="Source Sans Pro"/>
              </a:rPr>
              <a:t>.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◎"/>
              <a:tabLst/>
              <a:defRPr/>
            </a:pPr>
            <a:r>
              <a:rPr lang="en-US" sz="2400" dirty="0" smtClean="0">
                <a:latin typeface="Source Sans Pro"/>
              </a:rPr>
              <a:t> </a:t>
            </a:r>
            <a:r>
              <a:rPr lang="en-US" sz="2400" dirty="0">
                <a:latin typeface="Source Sans Pro"/>
              </a:rPr>
              <a:t>The proposed system can support early detection of </a:t>
            </a:r>
            <a:r>
              <a:rPr lang="en-US" sz="2400" b="1" dirty="0">
                <a:latin typeface="Source Sans Pro"/>
              </a:rPr>
              <a:t>Diabetic Retinopathy (DR)</a:t>
            </a:r>
            <a:r>
              <a:rPr lang="en-US" sz="2400" dirty="0">
                <a:latin typeface="Source Sans Pro"/>
              </a:rPr>
              <a:t> and serve as a foundation for future computer-aided diagnosis systems.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Source Sans Pro"/>
              <a:ea typeface="Source Sans Pro"/>
              <a:sym typeface="Source Sans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0694" y="214121"/>
            <a:ext cx="1025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latin typeface="Cambria"/>
                <a:cs typeface="Cambria"/>
              </a:rPr>
              <a:t>Page</a:t>
            </a:r>
            <a:r>
              <a:rPr sz="1800" b="1" spc="6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70" dirty="0">
                <a:latin typeface="Cambria"/>
                <a:cs typeface="Cambria"/>
              </a:rPr>
              <a:t> </a:t>
            </a:r>
            <a:r>
              <a:rPr lang="en-IN" b="1" spc="-35" dirty="0">
                <a:latin typeface="Cambria"/>
                <a:cs typeface="Cambria"/>
              </a:rPr>
              <a:t>8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4F9289B-C993-07AC-A86E-615381C67E58}"/>
              </a:ext>
            </a:extLst>
          </p:cNvPr>
          <p:cNvSpPr/>
          <p:nvPr/>
        </p:nvSpPr>
        <p:spPr>
          <a:xfrm>
            <a:off x="919266" y="609600"/>
            <a:ext cx="3281669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Reference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2A69D62-0AE7-2698-C5BB-6A8C32B969EB}"/>
              </a:ext>
            </a:extLst>
          </p:cNvPr>
          <p:cNvSpPr txBox="1">
            <a:spLocks/>
          </p:cNvSpPr>
          <p:nvPr/>
        </p:nvSpPr>
        <p:spPr>
          <a:xfrm>
            <a:off x="400050" y="1790700"/>
            <a:ext cx="11391900" cy="4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◎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-US" b="1" dirty="0" smtClean="0"/>
              <a:t>Li, R., et al.</a:t>
            </a:r>
            <a:r>
              <a:rPr lang="en-US" dirty="0" smtClean="0"/>
              <a:t>, "Rethinking the U-Net Architecture Design for Retinal Blood Vessel Segmentation," </a:t>
            </a:r>
            <a:r>
              <a:rPr lang="en-US" i="1" dirty="0" smtClean="0"/>
              <a:t>IEEE Transactions on Medical Imaging</a:t>
            </a:r>
            <a:r>
              <a:rPr lang="en-US" dirty="0" smtClean="0"/>
              <a:t>, vol. 42, no. 8, pp. 2215–2228, 2023. </a:t>
            </a:r>
            <a:endParaRPr lang="en-US" dirty="0" smtClean="0"/>
          </a:p>
          <a:p>
            <a:r>
              <a:rPr lang="en-US" b="1" dirty="0" smtClean="0"/>
              <a:t>Zhang</a:t>
            </a:r>
            <a:r>
              <a:rPr lang="en-US" b="1" dirty="0" smtClean="0"/>
              <a:t>, Y., et al.</a:t>
            </a:r>
            <a:r>
              <a:rPr lang="en-US" dirty="0" smtClean="0"/>
              <a:t>, "Deep Learning-Based Retinal Vessel Segmentation: A Survey," </a:t>
            </a:r>
            <a:r>
              <a:rPr lang="en-US" i="1" dirty="0" smtClean="0"/>
              <a:t>Computer Methods and Programs in Biomedicine</a:t>
            </a:r>
            <a:r>
              <a:rPr lang="en-US" dirty="0" smtClean="0"/>
              <a:t>, vol. 235, 2023. </a:t>
            </a:r>
            <a:endParaRPr lang="en-US" dirty="0" smtClean="0"/>
          </a:p>
          <a:p>
            <a:r>
              <a:rPr lang="en-US" b="1" dirty="0" err="1" smtClean="0"/>
              <a:t>Staal</a:t>
            </a:r>
            <a:r>
              <a:rPr lang="en-US" b="1" dirty="0" smtClean="0"/>
              <a:t>, J., Abramoff, M. D., </a:t>
            </a:r>
            <a:r>
              <a:rPr lang="en-US" b="1" dirty="0" err="1" smtClean="0"/>
              <a:t>Niemeijer</a:t>
            </a:r>
            <a:r>
              <a:rPr lang="en-US" b="1" dirty="0" smtClean="0"/>
              <a:t>, M., </a:t>
            </a:r>
            <a:r>
              <a:rPr lang="en-US" b="1" dirty="0" err="1" smtClean="0"/>
              <a:t>Viergever</a:t>
            </a:r>
            <a:r>
              <a:rPr lang="en-US" b="1" dirty="0" smtClean="0"/>
              <a:t>, M. A., &amp; van </a:t>
            </a:r>
            <a:r>
              <a:rPr lang="en-US" b="1" dirty="0" err="1" smtClean="0"/>
              <a:t>Ginneken</a:t>
            </a:r>
            <a:r>
              <a:rPr lang="en-US" b="1" dirty="0" smtClean="0"/>
              <a:t>, B.</a:t>
            </a:r>
            <a:r>
              <a:rPr lang="en-US" dirty="0" smtClean="0"/>
              <a:t>, "Ridge-Based Vessel Segmentation in Color Images of the Retina," </a:t>
            </a:r>
            <a:r>
              <a:rPr lang="en-US" i="1" dirty="0" smtClean="0"/>
              <a:t>IEEE Transactions on Medical Imaging</a:t>
            </a:r>
            <a:r>
              <a:rPr lang="en-US" dirty="0" smtClean="0"/>
              <a:t>, vol. 23, no. 4, pp. 501–509, 2004. </a:t>
            </a:r>
            <a:endParaRPr lang="en-US" dirty="0" smtClean="0"/>
          </a:p>
          <a:p>
            <a:r>
              <a:rPr lang="en-US" b="1" dirty="0" smtClean="0"/>
              <a:t>DRIVE </a:t>
            </a:r>
            <a:r>
              <a:rPr lang="en-US" b="1" dirty="0" smtClean="0"/>
              <a:t>Dataset (Digital Retinal Images for Vessel Extraction)</a:t>
            </a: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76200" indent="0">
              <a:buNone/>
            </a:pPr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AB9CC418-253D-7093-F4BB-18A1DE73AF45}"/>
              </a:ext>
            </a:extLst>
          </p:cNvPr>
          <p:cNvSpPr txBox="1">
            <a:spLocks/>
          </p:cNvSpPr>
          <p:nvPr/>
        </p:nvSpPr>
        <p:spPr>
          <a:xfrm>
            <a:off x="10640694" y="214121"/>
            <a:ext cx="8985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90" dirty="0">
                <a:solidFill>
                  <a:srgbClr val="000000"/>
                </a:solidFill>
              </a:rPr>
              <a:t>Page</a:t>
            </a:r>
            <a:r>
              <a:rPr lang="en-IN" b="1" spc="65" dirty="0">
                <a:solidFill>
                  <a:srgbClr val="000000"/>
                </a:solidFill>
              </a:rPr>
              <a:t> </a:t>
            </a:r>
            <a:r>
              <a:rPr lang="en-IN" b="1" dirty="0">
                <a:solidFill>
                  <a:srgbClr val="000000"/>
                </a:solidFill>
              </a:rPr>
              <a:t>-</a:t>
            </a:r>
            <a:r>
              <a:rPr lang="en-IN" b="1" spc="70" dirty="0">
                <a:solidFill>
                  <a:srgbClr val="000000"/>
                </a:solidFill>
              </a:rPr>
              <a:t> </a:t>
            </a:r>
            <a:r>
              <a:rPr lang="en-IN" b="1" spc="-50" dirty="0">
                <a:solidFill>
                  <a:srgbClr val="000000"/>
                </a:solidFill>
              </a:rPr>
              <a:t>9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327860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701</Words>
  <Application>Microsoft Office PowerPoint</Application>
  <PresentationFormat>Custom</PresentationFormat>
  <Paragraphs>86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Page - 5</vt:lpstr>
      <vt:lpstr>Slide 6</vt:lpstr>
      <vt:lpstr>Dataset Loading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CHITRA DEY</dc:creator>
  <cp:lastModifiedBy>Subhodip</cp:lastModifiedBy>
  <cp:revision>53</cp:revision>
  <dcterms:created xsi:type="dcterms:W3CDTF">2025-10-14T09:35:35Z</dcterms:created>
  <dcterms:modified xsi:type="dcterms:W3CDTF">2026-07-16T17:38:03Z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2025-10-14T00:00:00Z</vt:filetime>
  </property>
  <property fmtid="{D5CDD505-2E9C-101B-9397-08002B2CF9AE}" pid="5" name="Producer">
    <vt:lpwstr>Microsoft® PowerPoint® 2019</vt:lpwstr>
  </property>
</Properties>
</file>